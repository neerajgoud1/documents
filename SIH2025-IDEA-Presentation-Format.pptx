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8243636" y="187018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70" y="1388110"/>
            <a:ext cx="7766050" cy="5539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SIH25094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One-Stop Personalized Career &amp; Education</a:t>
            </a:r>
            <a:r>
              <a:rPr lang="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Advisor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-Hexadecimals</a:t>
            </a:r>
            <a:endParaRPr lang="en-I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271145" y="252095"/>
            <a:ext cx="214947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Hexadecimals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s 1"/>
          <p:cNvSpPr/>
          <p:nvPr/>
        </p:nvSpPr>
        <p:spPr>
          <a:xfrm>
            <a:off x="271145" y="1365885"/>
            <a:ext cx="5951220" cy="48177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71145" y="1430655"/>
            <a:ext cx="5314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>
                <a:solidFill>
                  <a:schemeClr val="tx2"/>
                </a:solidFill>
              </a:rPr>
              <a:t>IDEA/SOLUTION-</a:t>
            </a:r>
            <a:endParaRPr lang="en-IN" altLang="en-US" sz="2000">
              <a:solidFill>
                <a:schemeClr val="tx2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29565" y="1829435"/>
            <a:ext cx="5893435" cy="4369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Implementation of a </a:t>
            </a:r>
            <a:r>
              <a:rPr lang="en-US" altLang="en-US" b="1"/>
              <a:t>One-Stop Personalized Career &amp; Education Advisor</a:t>
            </a:r>
            <a:r>
              <a:rPr lang="en-US" altLang="en-US"/>
              <a:t> Website with multilingual support and intelligent career guidance.</a:t>
            </a:r>
            <a:endParaRPr lang="en-US" altLang="en-US"/>
          </a:p>
          <a:p>
            <a:endParaRPr lang="en-US" altLang="en-US" sz="800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800" b="1">
                <a:latin typeface="+mj-lt"/>
                <a:cs typeface="+mj-lt"/>
              </a:rPr>
              <a:t>AI-powered Chatbot</a:t>
            </a:r>
            <a:r>
              <a:rPr lang="en-US" altLang="en-US" sz="1800">
                <a:latin typeface="+mj-lt"/>
                <a:cs typeface="+mj-lt"/>
              </a:rPr>
              <a:t> in three languages (English, Hindi, Regional) to ensure inclusivity.</a:t>
            </a:r>
            <a:endParaRPr lang="en-US" altLang="en-US" sz="180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800" b="1">
                <a:latin typeface="+mj-lt"/>
                <a:cs typeface="+mj-lt"/>
              </a:rPr>
              <a:t>Virtual Assistant</a:t>
            </a:r>
            <a:r>
              <a:rPr lang="en-US" altLang="en-US" sz="1800">
                <a:latin typeface="+mj-lt"/>
                <a:cs typeface="+mj-lt"/>
              </a:rPr>
              <a:t> to guide students step-by-step in choosing streams, courses, and career paths.</a:t>
            </a:r>
            <a:endParaRPr lang="en-US" altLang="en-US" sz="180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800" b="1">
                <a:latin typeface="+mj-lt"/>
                <a:cs typeface="+mj-lt"/>
              </a:rPr>
              <a:t>Career Recommendation System</a:t>
            </a:r>
            <a:r>
              <a:rPr lang="en-US" altLang="en-US" sz="1800">
                <a:latin typeface="+mj-lt"/>
                <a:cs typeface="+mj-lt"/>
              </a:rPr>
              <a:t> for students after 10th and 12th based on interest, aptitude, and emerging opportunities.</a:t>
            </a:r>
            <a:endParaRPr lang="en-US" altLang="en-US" sz="180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800" b="1">
                <a:latin typeface="+mj-lt"/>
                <a:cs typeface="+mj-lt"/>
              </a:rPr>
              <a:t>College Recommender Module</a:t>
            </a:r>
            <a:r>
              <a:rPr lang="en-US" altLang="en-US" sz="1800">
                <a:latin typeface="+mj-lt"/>
                <a:cs typeface="+mj-lt"/>
              </a:rPr>
              <a:t> suggesting institutions nearby, along with course details, eligibility, and placement insights.</a:t>
            </a:r>
            <a:endParaRPr lang="en-US" altLang="en-US" sz="180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800" b="1">
                <a:latin typeface="+mj-lt"/>
                <a:cs typeface="+mj-lt"/>
              </a:rPr>
              <a:t>Personalized Dashboards</a:t>
            </a:r>
            <a:r>
              <a:rPr lang="en-US" altLang="en-US" sz="1800">
                <a:latin typeface="+mj-lt"/>
                <a:cs typeface="+mj-lt"/>
              </a:rPr>
              <a:t> for students and parents to track career exploration and decisions.</a:t>
            </a:r>
            <a:endParaRPr lang="en-US" altLang="en-US" sz="1800">
              <a:latin typeface="+mj-lt"/>
              <a:cs typeface="+mj-lt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373495" y="1365885"/>
            <a:ext cx="5553710" cy="22675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412230" y="1424940"/>
            <a:ext cx="5170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>
                <a:solidFill>
                  <a:schemeClr val="tx2"/>
                </a:solidFill>
              </a:rPr>
              <a:t>PROBLEM RESOLTUION</a:t>
            </a:r>
            <a:endParaRPr lang="en-IN" altLang="en-US" sz="2000">
              <a:solidFill>
                <a:schemeClr val="tx2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479540" y="1868805"/>
            <a:ext cx="5332095" cy="164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Addresses the </a:t>
            </a:r>
            <a:r>
              <a:rPr lang="en-US" altLang="en-US" b="1"/>
              <a:t>confusion</a:t>
            </a:r>
            <a:r>
              <a:rPr lang="en-US" altLang="en-US"/>
              <a:t> and </a:t>
            </a:r>
            <a:r>
              <a:rPr lang="en-US" altLang="en-US" b="1"/>
              <a:t>lack of awareness</a:t>
            </a:r>
            <a:r>
              <a:rPr lang="en-US" altLang="en-US"/>
              <a:t> students face after Class 10th &amp; 12th about streams, courses, and careers.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Provides </a:t>
            </a:r>
            <a:r>
              <a:rPr lang="en-US" altLang="en-US" b="1"/>
              <a:t>personalized</a:t>
            </a:r>
            <a:r>
              <a:rPr lang="en-US" altLang="en-US"/>
              <a:t>, </a:t>
            </a:r>
            <a:r>
              <a:rPr lang="en-US" altLang="en-US" b="1"/>
              <a:t>data-driven guidance </a:t>
            </a:r>
            <a:r>
              <a:rPr lang="en-US" altLang="en-US"/>
              <a:t>instead of generic information, helping students align education with career goals.</a:t>
            </a:r>
            <a:endParaRPr lang="en-US" altLang="en-US"/>
          </a:p>
        </p:txBody>
      </p:sp>
      <p:sp>
        <p:nvSpPr>
          <p:cNvPr id="13" name="Rectangles 12"/>
          <p:cNvSpPr/>
          <p:nvPr/>
        </p:nvSpPr>
        <p:spPr>
          <a:xfrm>
            <a:off x="6373495" y="3765550"/>
            <a:ext cx="5554345" cy="24206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373495" y="3819525"/>
            <a:ext cx="54000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>
                <a:solidFill>
                  <a:schemeClr val="tx2"/>
                </a:solidFill>
              </a:rPr>
              <a:t>UNIQUE VALUE PROPOSITIONS(UVP)</a:t>
            </a:r>
            <a:endParaRPr lang="en-IN" altLang="en-US" sz="2000">
              <a:solidFill>
                <a:schemeClr val="tx2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6373495" y="4206240"/>
            <a:ext cx="55460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b="1"/>
              <a:t>Multilingual Chatbot</a:t>
            </a:r>
            <a:r>
              <a:rPr lang="en-US" altLang="en-US"/>
              <a:t> &amp; </a:t>
            </a:r>
            <a:r>
              <a:rPr lang="en-US" altLang="en-US" b="1"/>
              <a:t>Virtual Assistant</a:t>
            </a:r>
            <a:r>
              <a:rPr lang="en-US" altLang="en-US"/>
              <a:t> </a:t>
            </a:r>
            <a:r>
              <a:rPr lang="en-US" altLang="en-US" sz="1800"/>
              <a:t>ensure inclusivity</a:t>
            </a:r>
            <a:r>
              <a:rPr lang="en-IN" altLang="en-US" sz="1800"/>
              <a:t>.</a:t>
            </a:r>
            <a:endParaRPr lang="en-US" altLang="en-US" sz="1800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b="1"/>
              <a:t>Career</a:t>
            </a:r>
            <a:r>
              <a:rPr lang="en-US" altLang="en-US"/>
              <a:t> &amp; </a:t>
            </a:r>
            <a:r>
              <a:rPr lang="en-US" altLang="en-US" b="1"/>
              <a:t>College recommendations</a:t>
            </a:r>
            <a:r>
              <a:rPr lang="en-US" altLang="en-US"/>
              <a:t> in seconds</a:t>
            </a:r>
            <a:r>
              <a:rPr lang="en-IN" altLang="en-US"/>
              <a:t>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Step-by-step </a:t>
            </a:r>
            <a:r>
              <a:rPr lang="en-US" altLang="en-US" b="1"/>
              <a:t>Career Roadmaps</a:t>
            </a:r>
            <a:r>
              <a:rPr lang="en-US" altLang="en-US"/>
              <a:t> for every profession</a:t>
            </a:r>
            <a:r>
              <a:rPr lang="en-IN" altLang="en-US"/>
              <a:t>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Peer-driven </a:t>
            </a:r>
            <a:r>
              <a:rPr lang="en-US" altLang="en-US" b="1"/>
              <a:t>Blog Community</a:t>
            </a:r>
            <a:r>
              <a:rPr lang="en-US" altLang="en-US"/>
              <a:t> enhances learning</a:t>
            </a:r>
            <a:r>
              <a:rPr lang="en-IN" altLang="en-US"/>
              <a:t>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b="1"/>
              <a:t>One-stop Platform</a:t>
            </a:r>
            <a:r>
              <a:rPr lang="en-US" altLang="en-US"/>
              <a:t> integrates guidance &amp; opportunities</a:t>
            </a:r>
            <a:r>
              <a:rPr lang="en-IN" altLang="en-US"/>
              <a:t>.</a:t>
            </a:r>
            <a:endParaRPr lang="en-I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175260" y="120650"/>
            <a:ext cx="211899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Hexadecimals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s 2"/>
          <p:cNvSpPr/>
          <p:nvPr/>
        </p:nvSpPr>
        <p:spPr>
          <a:xfrm>
            <a:off x="175260" y="1095375"/>
            <a:ext cx="4668520" cy="51219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52730" y="1095375"/>
            <a:ext cx="4309110" cy="5462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ym typeface="+mn-ea"/>
              </a:rPr>
              <a:t>Application Development</a:t>
            </a:r>
            <a:endParaRPr lang="en-US" altLang="en-US" b="1"/>
          </a:p>
          <a:p>
            <a:endParaRPr lang="en-US" altLang="en-US" sz="600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b="1">
                <a:sym typeface="+mn-ea"/>
              </a:rPr>
              <a:t>Frontend</a:t>
            </a:r>
            <a:r>
              <a:rPr lang="en-US" altLang="en-US">
                <a:sym typeface="+mn-ea"/>
              </a:rPr>
              <a:t>: React.js </a:t>
            </a:r>
            <a:r>
              <a:rPr lang="en-IN" altLang="en-US">
                <a:sym typeface="+mn-ea"/>
              </a:rPr>
              <a:t>+ Typescript</a:t>
            </a:r>
            <a:r>
              <a:rPr lang="en-US" altLang="en-US">
                <a:sym typeface="+mn-ea"/>
              </a:rPr>
              <a:t> with TailwindCSS for responsive, modern UI.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b="1">
                <a:sym typeface="+mn-ea"/>
              </a:rPr>
              <a:t>Backend</a:t>
            </a:r>
            <a:r>
              <a:rPr lang="en-US" altLang="en-US">
                <a:sym typeface="+mn-ea"/>
              </a:rPr>
              <a:t>: Supabase (PostgreSQL + Auth + APIs) managing users, blogs, courses, career roadmaps, and chat history.</a:t>
            </a:r>
            <a:endParaRPr lang="en-US" altLang="en-US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 sz="500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 b="1">
                <a:sym typeface="+mn-ea"/>
              </a:rPr>
              <a:t>Artificial Intelligence</a:t>
            </a:r>
            <a:endParaRPr lang="en-IN" altLang="en-US" b="1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 sz="600" b="1">
              <a:sym typeface="+mn-ea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700" b="1">
                <a:sym typeface="+mn-ea"/>
              </a:rPr>
              <a:t>OpenAI GPT Models</a:t>
            </a:r>
            <a:r>
              <a:rPr lang="en-US" altLang="en-US" sz="1700">
                <a:sym typeface="+mn-ea"/>
              </a:rPr>
              <a:t> </a:t>
            </a:r>
            <a:r>
              <a:rPr lang="en-IN" altLang="en-US" sz="1700">
                <a:sym typeface="+mn-ea"/>
              </a:rPr>
              <a:t>-</a:t>
            </a:r>
            <a:r>
              <a:rPr lang="en-US" altLang="en-US" sz="1700">
                <a:sym typeface="+mn-ea"/>
              </a:rPr>
              <a:t> Powering text-based career guidance and interview practice.</a:t>
            </a:r>
            <a:endParaRPr lang="en-US" altLang="en-US" sz="1700">
              <a:sym typeface="+mn-ea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1700" b="1">
                <a:sym typeface="+mn-ea"/>
              </a:rPr>
              <a:t>Vapi Voice APIs</a:t>
            </a:r>
            <a:r>
              <a:rPr lang="en-US" altLang="en-US" sz="1700">
                <a:sym typeface="+mn-ea"/>
              </a:rPr>
              <a:t> </a:t>
            </a:r>
            <a:r>
              <a:rPr lang="en-IN" altLang="en-US" sz="1700">
                <a:sym typeface="+mn-ea"/>
              </a:rPr>
              <a:t>-</a:t>
            </a:r>
            <a:r>
              <a:rPr lang="en-US" altLang="en-US" sz="1700">
                <a:sym typeface="+mn-ea"/>
              </a:rPr>
              <a:t> Powering telephony and conversational AI voice interviews.</a:t>
            </a:r>
            <a:endParaRPr lang="en-US" altLang="en-US" sz="1700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 sz="600" b="1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b="1">
                <a:sym typeface="+mn-ea"/>
              </a:rPr>
              <a:t>Career Guidance &amp; Learning</a:t>
            </a:r>
            <a:endParaRPr lang="en-US" altLang="en-US" b="1"/>
          </a:p>
          <a:p>
            <a:pPr marL="0" indent="0">
              <a:buFont typeface="Wingdings" panose="05000000000000000000" charset="0"/>
              <a:buNone/>
            </a:pPr>
            <a:endParaRPr lang="en-US" altLang="en-US" sz="600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>
                <a:sym typeface="+mn-ea"/>
              </a:rPr>
              <a:t>Algorithm maps user interests, stream, and performance to </a:t>
            </a:r>
            <a:r>
              <a:rPr lang="en-US" altLang="en-US" b="1">
                <a:sym typeface="+mn-ea"/>
              </a:rPr>
              <a:t>career paths</a:t>
            </a:r>
            <a:r>
              <a:rPr lang="en-US" altLang="en-US">
                <a:sym typeface="+mn-ea"/>
              </a:rPr>
              <a:t> and </a:t>
            </a:r>
            <a:r>
              <a:rPr lang="en-US" altLang="en-US" b="1">
                <a:sym typeface="+mn-ea"/>
              </a:rPr>
              <a:t>skill roadmaps</a:t>
            </a:r>
            <a:r>
              <a:rPr lang="en-US" altLang="en-US">
                <a:sym typeface="+mn-ea"/>
              </a:rPr>
              <a:t>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b="1">
                <a:sym typeface="+mn-ea"/>
              </a:rPr>
              <a:t>Interactive quiz</a:t>
            </a:r>
            <a:r>
              <a:rPr lang="en-US" altLang="en-US">
                <a:sym typeface="+mn-ea"/>
              </a:rPr>
              <a:t> to identify user interests and guide career suggestions.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05740" y="120650"/>
            <a:ext cx="216027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Hexadecimals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320040" y="1205230"/>
            <a:ext cx="117303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Feasibility of the Idea</a:t>
            </a:r>
            <a:endParaRPr lang="en-US" altLang="en-US" sz="200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Potential Challenges &amp; Risks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Strategies to Overcome</a:t>
            </a:r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04470" y="120650"/>
            <a:ext cx="216598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Hexadecimals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329565" y="1619885"/>
            <a:ext cx="1152652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/>
              <a:t>Potential impact on the target audience</a:t>
            </a:r>
            <a:endParaRPr lang="en-US" altLang="en-US" sz="2800"/>
          </a:p>
          <a:p>
            <a:endParaRPr lang="en-US" altLang="en-US"/>
          </a:p>
          <a:p>
            <a:r>
              <a:rPr lang="en-US" altLang="en-US"/>
              <a:t> Better career decision-making, Economical </a:t>
            </a:r>
            <a:r>
              <a:rPr lang="en-IN" altLang="en-US"/>
              <a:t>saving</a:t>
            </a:r>
            <a:r>
              <a:rPr lang="en-US" altLang="en-US"/>
              <a:t>, New opportunities, Social empowerment .</a:t>
            </a:r>
            <a:endParaRPr lang="en-US" altLang="en-US"/>
          </a:p>
          <a:p>
            <a:endParaRPr lang="en-US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/>
              <a:t>Benefits of the solution (social, economic, environmental, etc.)</a:t>
            </a:r>
            <a:endParaRPr lang="en-US" altLang="en-US" sz="280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/>
          </a:p>
          <a:p>
            <a:r>
              <a:rPr lang="en-US" altLang="en-US" b="1"/>
              <a:t>Social</a:t>
            </a:r>
            <a:r>
              <a:rPr lang="en-US" altLang="en-US"/>
              <a:t>: Improved access to guidance, Empowerment of students &amp; parents, Equal opportunities for rural &amp; urban learners.</a:t>
            </a:r>
            <a:endParaRPr lang="en-US" altLang="en-US"/>
          </a:p>
          <a:p>
            <a:r>
              <a:rPr lang="en-US" altLang="en-US" b="1"/>
              <a:t>Economic</a:t>
            </a:r>
            <a:r>
              <a:rPr lang="en-US" altLang="en-US"/>
              <a:t>: Higher productivity (right career choices), Reduced misaligned education cost, Strong market reach for institutions.</a:t>
            </a:r>
            <a:endParaRPr lang="en-US" altLang="en-US"/>
          </a:p>
          <a:p>
            <a:r>
              <a:rPr lang="en-US" altLang="en-US" b="1"/>
              <a:t>Environmental</a:t>
            </a:r>
            <a:r>
              <a:rPr lang="en-US" altLang="en-US"/>
              <a:t>: Reduced travel for counseling via online guidance, Lower resource waste in mischosen courses, Promotes efficient use of digital resources.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11928"/>
            <a:ext cx="93853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165735" y="120650"/>
            <a:ext cx="206121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Hexadecimals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725170" y="2286000"/>
            <a:ext cx="11141075" cy="3618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/>
              <a:t>Career Confusion after 10th &amp; 12th</a:t>
            </a:r>
            <a:r>
              <a:rPr lang="en-IN" altLang="en-US" sz="2000"/>
              <a:t> - </a:t>
            </a:r>
            <a:r>
              <a:rPr lang="en-US" altLang="en-US" sz="2000">
                <a:solidFill>
                  <a:schemeClr val="accent1"/>
                </a:solidFill>
              </a:rPr>
              <a:t>https://ncert.nic.in/</a:t>
            </a:r>
            <a:endParaRPr lang="en-US" altLang="en-US" sz="200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/>
              <a:t>Existing platforms studied for features &amp; limitations</a:t>
            </a:r>
            <a:r>
              <a:rPr lang="en-IN" altLang="en-US" sz="2000"/>
              <a:t> - </a:t>
            </a:r>
            <a:r>
              <a:rPr lang="en-US" altLang="en-US" sz="2000">
                <a:solidFill>
                  <a:schemeClr val="accent1"/>
                </a:solidFill>
                <a:sym typeface="+mn-ea"/>
              </a:rPr>
              <a:t>Shiksha.com</a:t>
            </a:r>
            <a:r>
              <a:rPr lang="en-US" altLang="en-US" sz="2000">
                <a:sym typeface="+mn-ea"/>
              </a:rPr>
              <a:t>, </a:t>
            </a:r>
            <a:r>
              <a:rPr lang="en-US" altLang="en-US" sz="2000">
                <a:solidFill>
                  <a:schemeClr val="accent1"/>
                </a:solidFill>
                <a:sym typeface="+mn-ea"/>
              </a:rPr>
              <a:t>CareerGuide.com</a:t>
            </a:r>
            <a:r>
              <a:rPr lang="en-US" altLang="en-US" sz="2000">
                <a:sym typeface="+mn-ea"/>
              </a:rPr>
              <a:t>, </a:t>
            </a:r>
            <a:r>
              <a:rPr lang="en-US" altLang="en-US" sz="2000">
                <a:solidFill>
                  <a:schemeClr val="accent1"/>
                </a:solidFill>
                <a:sym typeface="+mn-ea"/>
              </a:rPr>
              <a:t>CollegeDunia</a:t>
            </a:r>
            <a:r>
              <a:rPr lang="en-IN" altLang="en-US" sz="2000">
                <a:sym typeface="+mn-ea"/>
              </a:rPr>
              <a:t>.</a:t>
            </a:r>
            <a:endParaRPr lang="en-IN" altLang="en-US" sz="2000"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>
                <a:sym typeface="+mn-ea"/>
              </a:rPr>
              <a:t>Access and Awareness Gaps </a:t>
            </a:r>
            <a:r>
              <a:rPr lang="en-IN" altLang="en-US" sz="2000">
                <a:sym typeface="+mn-ea"/>
              </a:rPr>
              <a:t>- </a:t>
            </a:r>
            <a:r>
              <a:rPr lang="en-US" altLang="en-US" sz="2000">
                <a:solidFill>
                  <a:schemeClr val="accent1"/>
                </a:solidFill>
                <a:sym typeface="+mn-ea"/>
              </a:rPr>
              <a:t>https://www.niti.gov.in/sites/default/files/2025-02/Expanding-Quality-Higher-Education-through-SPUs.pdf</a:t>
            </a:r>
            <a:endParaRPr lang="en-US" altLang="en-US" sz="2000">
              <a:solidFill>
                <a:schemeClr val="accent1"/>
              </a:solidFill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>
                <a:sym typeface="+mn-ea"/>
              </a:rPr>
              <a:t>AICTE Career Guidance Portal</a:t>
            </a:r>
            <a:r>
              <a:rPr lang="en-IN" altLang="en-US" sz="2000">
                <a:sym typeface="+mn-ea"/>
              </a:rPr>
              <a:t> - </a:t>
            </a:r>
            <a:r>
              <a:rPr lang="en-US" altLang="en-US" sz="2000">
                <a:solidFill>
                  <a:schemeClr val="accent1"/>
                </a:solidFill>
                <a:sym typeface="+mn-ea"/>
              </a:rPr>
              <a:t>https://www.aicte.gov.in/</a:t>
            </a:r>
            <a:endParaRPr lang="en-US" altLang="en-US" sz="2000">
              <a:sym typeface="+mn-ea"/>
            </a:endParaRPr>
          </a:p>
          <a:p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3378</Words>
  <Application>WPS Presentation</Application>
  <PresentationFormat>Widescreen</PresentationFormat>
  <Paragraphs>115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Afsheen Ara</cp:lastModifiedBy>
  <cp:revision>148</cp:revision>
  <dcterms:created xsi:type="dcterms:W3CDTF">2013-12-12T18:46:00Z</dcterms:created>
  <dcterms:modified xsi:type="dcterms:W3CDTF">2025-09-12T06:19:07Z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6EC813D6DFB145CB9978AC23A9528F04_12</vt:lpwstr>
  </property>
  <property fmtid="{D5CDD505-2E9C-101B-9397-08002B2CF9AE}" pid="3" name="KSOProductBuildVer">
    <vt:lpwstr>1033-12.2.0.22530</vt:lpwstr>
  </property>
</Properties>
</file>